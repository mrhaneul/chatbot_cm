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 (USD)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1499</c:v>
                </c:pt>
                <c:pt idx="1">
                  <c:v>4497</c:v>
                </c:pt>
                <c:pt idx="2">
                  <c:v>7495</c:v>
                </c:pt>
                <c:pt idx="3">
                  <c:v>1599</c:v>
                </c:pt>
                <c:pt idx="4">
                  <c:v>3198</c:v>
                </c:pt>
                <c:pt idx="5">
                  <c:v>4797</c:v>
                </c:pt>
                <c:pt idx="6">
                  <c:v>1999</c:v>
                </c:pt>
                <c:pt idx="7">
                  <c:v>1999</c:v>
                </c:pt>
                <c:pt idx="8">
                  <c:v>3998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1-4E9D-83BF-C1F01E0E9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0331295"/>
        <c:axId val="250331775"/>
      </c:barChart>
      <c:catAx>
        <c:axId val="25033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331775"/>
        <c:crosses val="autoZero"/>
        <c:auto val="1"/>
        <c:lblAlgn val="ctr"/>
        <c:lblOffset val="100"/>
        <c:noMultiLvlLbl val="0"/>
      </c:catAx>
      <c:valAx>
        <c:axId val="25033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331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RPS (est)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1.0129999999999999</c:v>
                </c:pt>
                <c:pt idx="1">
                  <c:v>3.04</c:v>
                </c:pt>
                <c:pt idx="2">
                  <c:v>5.0670000000000002</c:v>
                </c:pt>
                <c:pt idx="3">
                  <c:v>2.3519999999999999</c:v>
                </c:pt>
                <c:pt idx="4">
                  <c:v>4.7039999999999997</c:v>
                </c:pt>
                <c:pt idx="5">
                  <c:v>7.056</c:v>
                </c:pt>
                <c:pt idx="6">
                  <c:v>2.9849999999999999</c:v>
                </c:pt>
                <c:pt idx="7">
                  <c:v>2.9849999999999999</c:v>
                </c:pt>
                <c:pt idx="8">
                  <c:v>5.97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66-465A-8A75-4A1CD3FEA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1514799"/>
        <c:axId val="251517199"/>
      </c:barChart>
      <c:catAx>
        <c:axId val="251514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1517199"/>
        <c:crosses val="autoZero"/>
        <c:auto val="1"/>
        <c:lblAlgn val="ctr"/>
        <c:lblOffset val="100"/>
        <c:noMultiLvlLbl val="0"/>
      </c:catAx>
      <c:valAx>
        <c:axId val="25151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Requests / sec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1514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7.38</c:v>
                </c:pt>
                <c:pt idx="1">
                  <c:v>7.38</c:v>
                </c:pt>
                <c:pt idx="2">
                  <c:v>7.38</c:v>
                </c:pt>
                <c:pt idx="3">
                  <c:v>3.18</c:v>
                </c:pt>
                <c:pt idx="4">
                  <c:v>3.18</c:v>
                </c:pt>
                <c:pt idx="5">
                  <c:v>3.18</c:v>
                </c:pt>
                <c:pt idx="6">
                  <c:v>2.5099999999999998</c:v>
                </c:pt>
                <c:pt idx="7">
                  <c:v>2.5099999999999998</c:v>
                </c:pt>
                <c:pt idx="8">
                  <c:v>2.5099999999999998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EC-4ADF-938B-A731974151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 (s)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4.46</c:v>
                </c:pt>
                <c:pt idx="1">
                  <c:v>4.46</c:v>
                </c:pt>
                <c:pt idx="2">
                  <c:v>4.46</c:v>
                </c:pt>
                <c:pt idx="3">
                  <c:v>1.92</c:v>
                </c:pt>
                <c:pt idx="4">
                  <c:v>1.92</c:v>
                </c:pt>
                <c:pt idx="5">
                  <c:v>1.92</c:v>
                </c:pt>
                <c:pt idx="6">
                  <c:v>1.51</c:v>
                </c:pt>
                <c:pt idx="7">
                  <c:v>1.51</c:v>
                </c:pt>
                <c:pt idx="8">
                  <c:v>1.51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EC-4ADF-938B-A73197415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427551"/>
        <c:axId val="251430431"/>
      </c:lineChart>
      <c:catAx>
        <c:axId val="251427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1430431"/>
        <c:crosses val="autoZero"/>
        <c:auto val="1"/>
        <c:lblAlgn val="ctr"/>
        <c:lblOffset val="100"/>
        <c:noMultiLvlLbl val="0"/>
      </c:catAx>
      <c:valAx>
        <c:axId val="25143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1427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Peak Concurrency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23</c:v>
                </c:pt>
                <c:pt idx="4">
                  <c:v>47</c:v>
                </c:pt>
                <c:pt idx="5">
                  <c:v>70</c:v>
                </c:pt>
                <c:pt idx="6">
                  <c:v>29</c:v>
                </c:pt>
                <c:pt idx="7">
                  <c:v>29</c:v>
                </c:pt>
                <c:pt idx="8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C-4742-9C23-C28406839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8721919"/>
        <c:axId val="238734399"/>
      </c:barChart>
      <c:catAx>
        <c:axId val="23872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8734399"/>
        <c:crosses val="autoZero"/>
        <c:auto val="1"/>
        <c:lblAlgn val="ctr"/>
        <c:lblOffset val="100"/>
        <c:noMultiLvlLbl val="0"/>
      </c:catAx>
      <c:valAx>
        <c:axId val="238734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Concurrent users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872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RPS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RTX 3090 x1 (target 10)</c:v>
                </c:pt>
                <c:pt idx="1">
                  <c:v>RTX 3090 x3 (target 25)</c:v>
                </c:pt>
                <c:pt idx="2">
                  <c:v>RTX 3090 x5 (target 50)</c:v>
                </c:pt>
                <c:pt idx="3">
                  <c:v>RTX 4090 x1 (target 10)</c:v>
                </c:pt>
                <c:pt idx="4">
                  <c:v>RTX 4090 x2 (target 25)</c:v>
                </c:pt>
                <c:pt idx="5">
                  <c:v>RTX 4090 x3 (target 50)</c:v>
                </c:pt>
                <c:pt idx="6">
                  <c:v>RTX 5090 x1 (target 10)</c:v>
                </c:pt>
                <c:pt idx="7">
                  <c:v>RTX 5090 x1 (target 25)</c:v>
                </c:pt>
                <c:pt idx="8">
                  <c:v>RTX 5090 x2 (target 50)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1479.76</c:v>
                </c:pt>
                <c:pt idx="1">
                  <c:v>1479.28</c:v>
                </c:pt>
                <c:pt idx="2">
                  <c:v>1479.18</c:v>
                </c:pt>
                <c:pt idx="3">
                  <c:v>679.85</c:v>
                </c:pt>
                <c:pt idx="4">
                  <c:v>679.85</c:v>
                </c:pt>
                <c:pt idx="5">
                  <c:v>679.85</c:v>
                </c:pt>
                <c:pt idx="6">
                  <c:v>669.68</c:v>
                </c:pt>
                <c:pt idx="7">
                  <c:v>669.68</c:v>
                </c:pt>
                <c:pt idx="8">
                  <c:v>669.68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9F-4271-A44D-9240B14FB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7683087"/>
        <c:axId val="437684047"/>
      </c:barChart>
      <c:catAx>
        <c:axId val="437683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684047"/>
        <c:crosses val="autoZero"/>
        <c:auto val="1"/>
        <c:lblAlgn val="ctr"/>
        <c:lblOffset val="100"/>
        <c:noMultiLvlLbl val="0"/>
      </c:catAx>
      <c:valAx>
        <c:axId val="437684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USD / RPS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683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365E-1957-CC41-7BF5-AC5608358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A97DD-F3E3-770B-7586-CB54DE95E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CE02-D5CD-1F81-2C29-10F052C8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A13BD-013F-0C9A-2985-013429AC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26BAB-B85A-1CAD-CD4F-303837254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D1E9-E475-5C9C-9CCC-152CBA60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ED9B7-4B39-40BC-0477-483C56264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47CFC-E70C-045B-7898-8C8EC61C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0FF86-49CD-3B18-1BC0-2D4A1A68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5D26A-72B9-8D92-ED64-AE1821A3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2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5A6B-787B-8989-F6BE-A5F59FE3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3D7A0-C0BC-78F7-C1C1-A19AC41F6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E9DCF-5CD9-F88C-0B06-C2E09D8A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35FAF-5724-9BB1-632D-84BFFFF2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43F7-32AA-4F8C-D785-3A135CE3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0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FBC9-DCE5-CBDE-D73B-9D253FB4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1333-6588-BC23-A6A5-4B352753E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CDDDE-5390-6A0F-341D-BBD71CC8F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45543-EDAA-571E-012E-3D4C44D2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4B5B4-A178-07C3-80B1-888B01E9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2B9E4-F700-81F2-AE42-FB97C4D1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4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0B27-1EC1-BA5B-729F-34D544E8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6FAF1-CB9E-8154-BD7D-2E6B26080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E3252-1602-48BC-2225-ACD19CB9C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B3618-6637-4BE2-F0D3-D670D6445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C06A0-6AE3-2A4A-4C32-0F7EE1F8E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FC6462-B34A-4B3A-3667-D5EB0D9F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0D3E0-5850-F756-4437-33D83443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F831F-13A5-8D57-ED16-7B0601B5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0319-2B8F-A13D-7C05-B2DEEEBA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68C26-3E40-F33B-64A7-D197E39B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BC8B6-AD0C-5BC4-27E3-900B19C8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4FAC-A145-8517-BAE2-BF1281DD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8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41C6F-1BF8-D06F-8A52-F17D0AFB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29357-EF3A-18EE-A6BA-C6EBCC87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FEBD1-D40A-1DF4-8ACB-CD85A7E7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6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563A-F153-CBE2-FCDF-3CF8DBFB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BCF0-E4A2-CD0C-0AEB-BBEAD561D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314FA-CF81-59F3-0DA8-79B960F70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F0759-8F97-24AC-4C0D-B6304DC9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FF2C7-063E-92A0-7BB6-03259803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95A2-95D9-EDFB-7035-72176F2D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1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020A-9FF9-8807-A1FF-CC9A9B33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B185D-21FC-5366-6604-EEF1CFCDE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D03DD-1332-82BB-83FD-5AB6E0D3F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14691-67A6-2A97-7F15-BE9344EC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8297B-BF68-7CF5-A952-BEBEF56B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A89F6-A9E2-1450-1A8E-F62D2B33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7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87EE-1636-61D8-3D68-85CBB9FD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22DC1-786B-74A0-9A7F-C980E480C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6547E-CA33-C2BF-ACEA-F888CBC8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BD961-CB80-6AFA-C94D-9BDF8420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9826F-5D55-1B5A-2CAA-BB7F9EB8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9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03FB7-B88A-2150-4A85-C0E1D9400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CD1CC-78BD-5F2F-05DD-B23B35AB1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3243-62A0-68A2-4C37-7AB8B158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106E-DF53-BE5D-C07F-FB0D90A6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9947F-6EBD-82F5-E043-4D0602CB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7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310D1-F0A5-63A5-51C1-3E35ACC1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10C33-2C3D-EAAE-985C-07FF27C4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7F5BA-7C18-9062-1CD7-12227A8EC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DA438-0443-44F8-9EA0-175E16E68E1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955A9-BC2D-CC59-DA15-49A37E8C3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97BED-BDDC-7BE4-05F1-1DC2CA136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C657-02CB-436F-9FDB-D720EF118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6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42BE-1F0A-FAF6-6A1F-7F89FFCFDC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Compute Sizing Report: Llama 3.2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B6B04-2602-FF09-2FE2-1FECDA958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Source: compute_systems_llama3_2_sizing.csv
Generated: 2026-02-20 16:39</a:t>
            </a:r>
          </a:p>
        </p:txBody>
      </p:sp>
    </p:spTree>
    <p:extLst>
      <p:ext uri="{BB962C8B-B14F-4D97-AF65-F5344CB8AC3E}">
        <p14:creationId xmlns:p14="http://schemas.microsoft.com/office/powerpoint/2010/main" val="373220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FDA09-8D49-8F32-751C-4883DCC11D2F}"/>
              </a:ext>
            </a:extLst>
          </p:cNvPr>
          <p:cNvSpPr txBox="1"/>
          <p:nvPr/>
        </p:nvSpPr>
        <p:spPr>
          <a:xfrm>
            <a:off x="508000" y="254000"/>
            <a:ext cx="10805886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/>
              <a:t>Estimated Total Cost by Configuration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ECB35A3-0AC8-3DEE-C901-BDB04FA05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012563"/>
              </p:ext>
            </p:extLst>
          </p:nvPr>
        </p:nvGraphicFramePr>
        <p:xfrm>
          <a:off x="762000" y="1143000"/>
          <a:ext cx="10805886" cy="5286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064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279407-94A2-73A1-4ED9-D9EED9B6FC66}"/>
              </a:ext>
            </a:extLst>
          </p:cNvPr>
          <p:cNvSpPr txBox="1"/>
          <p:nvPr/>
        </p:nvSpPr>
        <p:spPr>
          <a:xfrm>
            <a:off x="381000" y="587829"/>
            <a:ext cx="10922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/>
              <a:t>Estimated Throughput by Configuration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F4FC993-1CDE-E8F8-D892-D0C7B006A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773743"/>
              </p:ext>
            </p:extLst>
          </p:nvPr>
        </p:nvGraphicFramePr>
        <p:xfrm>
          <a:off x="635000" y="1476829"/>
          <a:ext cx="10922000" cy="4575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025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2CCB1-8725-E024-2809-E61E3ECC442D}"/>
              </a:ext>
            </a:extLst>
          </p:cNvPr>
          <p:cNvSpPr txBox="1"/>
          <p:nvPr/>
        </p:nvSpPr>
        <p:spPr>
          <a:xfrm>
            <a:off x="508000" y="254000"/>
            <a:ext cx="10704286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/>
              <a:t>Latency Comparison (p50 vs p95)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FAF169-1519-6E4A-1D93-C5032093E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633530"/>
              </p:ext>
            </p:extLst>
          </p:nvPr>
        </p:nvGraphicFramePr>
        <p:xfrm>
          <a:off x="762000" y="1143000"/>
          <a:ext cx="10704286" cy="4778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033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C78FAE-01A5-1139-07E2-D3595547BA56}"/>
              </a:ext>
            </a:extLst>
          </p:cNvPr>
          <p:cNvSpPr txBox="1"/>
          <p:nvPr/>
        </p:nvSpPr>
        <p:spPr>
          <a:xfrm>
            <a:off x="508000" y="254000"/>
            <a:ext cx="10675257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/>
              <a:t>Max Peak Concurrency (Assumed) by Configuration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DD50242-6184-E187-F697-EFE9913533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432628"/>
              </p:ext>
            </p:extLst>
          </p:nvPr>
        </p:nvGraphicFramePr>
        <p:xfrm>
          <a:off x="762000" y="1143000"/>
          <a:ext cx="10675257" cy="4923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167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34686-63D6-B241-0E6C-EDA1DE332E8B}"/>
              </a:ext>
            </a:extLst>
          </p:cNvPr>
          <p:cNvSpPr txBox="1"/>
          <p:nvPr/>
        </p:nvSpPr>
        <p:spPr>
          <a:xfrm>
            <a:off x="508000" y="254000"/>
            <a:ext cx="10805886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/>
              <a:t>Cost Efficiency (USD per RPS)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2076C6F-6D53-15C9-A86D-7C9ECEFF6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2320404"/>
              </p:ext>
            </p:extLst>
          </p:nvPr>
        </p:nvGraphicFramePr>
        <p:xfrm>
          <a:off x="762000" y="1143000"/>
          <a:ext cx="10805886" cy="5083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666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Compute Sizing Report: Llama 3.2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Testing</dc:creator>
  <cp:lastModifiedBy>Testing</cp:lastModifiedBy>
  <cp:revision>2</cp:revision>
  <dcterms:created xsi:type="dcterms:W3CDTF">2026-02-21T00:39:06Z</dcterms:created>
  <dcterms:modified xsi:type="dcterms:W3CDTF">2026-02-21T00:40:43Z</dcterms:modified>
</cp:coreProperties>
</file>